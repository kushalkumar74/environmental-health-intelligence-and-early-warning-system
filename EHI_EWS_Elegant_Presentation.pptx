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73152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D97706"/>
                </a:solidFill>
              </a:defRPr>
            </a:pPr>
            <a:r>
              <a:t>ACADEMIC MINI PROJECT PRESENTATION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3000" b="1">
                <a:solidFill>
                  <a:srgbClr val="FFFFFF"/>
                </a:solidFill>
              </a:defRPr>
            </a:pPr>
            <a:r>
              <a:t>Environmental Health Intelligence &amp; Early Warning System</a:t>
            </a:r>
          </a:p>
          <a:p>
            <a:pPr>
              <a:spcAft>
                <a:spcPts val="3600"/>
              </a:spcAft>
              <a:defRPr sz="1600">
                <a:solidFill>
                  <a:srgbClr val="0D9488"/>
                </a:solidFill>
              </a:defRPr>
            </a:pPr>
            <a:r>
              <a:t>Real-Time AQI Monitoring, Machine Learning Anomaly Detection &amp; AI Health Risk Platform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Architecture: React (Vite) + Node.js (Express v5) + Python FastAPI (Scikit-Learn) + MongoDB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ENVIRONMENTAL HEALTH INTELLIGENCE &amp; EARLY WARNING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Presentation Agenda &amp; Executive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1663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51663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47091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400" b="1">
                <a:solidFill>
                  <a:srgbClr val="1E293B"/>
                </a:solidFill>
              </a:defRPr>
            </a:pPr>
            <a:r>
              <a:t>1. Introduction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Project Background, Objectives &amp; Core Innovation Pillars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08760"/>
            <a:ext cx="51663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508760"/>
            <a:ext cx="516636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40"/>
            <a:ext cx="47091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400" b="1">
                <a:solidFill>
                  <a:srgbClr val="1E293B"/>
                </a:solidFill>
              </a:defRPr>
            </a:pPr>
            <a:r>
              <a:t>2. Problem Definition &amp; Existing Systems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Core Public Health Challenges &amp; Comparative Feature Matrix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51663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108960"/>
            <a:ext cx="516636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291840"/>
            <a:ext cx="47091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400" b="1">
                <a:solidFill>
                  <a:srgbClr val="1E293B"/>
                </a:solidFill>
              </a:defRPr>
            </a:pPr>
            <a:r>
              <a:t>3. Methodology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Data Acquisition Pipeline, ML Anomaly Engine &amp; EVA Assistant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1663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1663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291840"/>
            <a:ext cx="47091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400" b="1">
                <a:solidFill>
                  <a:srgbClr val="1E293B"/>
                </a:solidFill>
              </a:defRPr>
            </a:pPr>
            <a:r>
              <a:t>4. Design Diagrams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System Architecture, ER Schema &amp; Data Flow Sequence Diagrams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709160"/>
            <a:ext cx="51663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709160"/>
            <a:ext cx="516636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892040"/>
            <a:ext cx="47091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400" b="1">
                <a:solidFill>
                  <a:srgbClr val="1E293B"/>
                </a:solidFill>
              </a:defRPr>
            </a:pPr>
            <a:r>
              <a:t>5. Conclusion &amp; Discussion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Technical Impact, Performance Benchmarks &amp; Future Roadmap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09160"/>
            <a:ext cx="51663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709160"/>
            <a:ext cx="516636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892040"/>
            <a:ext cx="47091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400" b="1">
                <a:solidFill>
                  <a:srgbClr val="1E293B"/>
                </a:solidFill>
              </a:defRPr>
            </a:pPr>
            <a:r>
              <a:t>6. Screenshots &amp; Other Diagrams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Interactive GIS Map, UI Layout, Dashboards &amp; PDF Exporter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TOPIC 1: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1. Introduction — Project Overview &amp;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375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33375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288036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400" b="1">
                <a:solidFill>
                  <a:srgbClr val="1E293B"/>
                </a:solidFill>
              </a:defRPr>
            </a:pPr>
            <a:r>
              <a:t>Background &amp; Urgency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Rapid urbanization and industrial emissions lead to severe particulate spikes (PM2.5, PM10).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Air pollution directly correlates with worsening respiratory and cardiovascular health conditions.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Traditional public tracking tools provide passive numbers without actionable health guidance.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3375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508760"/>
            <a:ext cx="333756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691640"/>
            <a:ext cx="288036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400" b="1">
                <a:solidFill>
                  <a:srgbClr val="1E293B"/>
                </a:solidFill>
              </a:defRPr>
            </a:pPr>
            <a:r>
              <a:t>Project Objectives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Geospatial AQI Tracking: Spatial mapping of 6 key atmospheric pollutants.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Predictive Machine Learning: Real-time detection of sudden environmental anomalies.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Personalized Risk Assessment: Tailored dosage calculation based on user health profiles.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AI Virtual Assistance: Interactive EVA assistant for travel and medical emergency routing.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08760"/>
            <a:ext cx="33375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508760"/>
            <a:ext cx="333756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691640"/>
            <a:ext cx="288036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400" b="1">
                <a:solidFill>
                  <a:srgbClr val="1E293B"/>
                </a:solidFill>
              </a:defRPr>
            </a:pPr>
            <a:r>
              <a:t>Core Innovation Pillars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Microservices Architecture: Node.js API server paired with Python FastAPI ML service.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Isolation Forest ML Engine: Unsupervised detection of localized pollution spikes.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Doctor-Ready PDF Reports: Downloadable clinical exposure summaries for medical review.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Multi-Tier Access Control: Custom views for Users, Facilities, and Administrators.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TOPIC 2: 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2. Problem Definition &amp; Existing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1663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516636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470916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400" b="1">
                <a:solidFill>
                  <a:srgbClr val="1E293B"/>
                </a:solidFill>
              </a:defRPr>
            </a:pPr>
            <a:r>
              <a:t>Core Public Health Challenges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One-Size-Fits-All AQI Metrics: Standard air quality indices treat asthmatics, children, and healthy adults identically.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Reactive Emergency Response: Alerts are triggered *after* heavy exposure has already occurred, failing to prevent health damage.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Fragmented Healthcare Access: Citizens cannot easily locate nearby specialized clinics or hospitals during severe smog episodes.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Unfiltered Sensor Telemetry: Raw sensor feeds frequently suffer from unverified noise or sudden sensor calibration errors.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1663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508760"/>
            <a:ext cx="51663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470916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400" b="1">
                <a:solidFill>
                  <a:srgbClr val="1E293B"/>
                </a:solidFill>
              </a:defRPr>
            </a:pPr>
            <a:r>
              <a:t>Comparative Feature Matrix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Legacy Apps: Show generic AQI numbers without individual susceptibility context.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EHI-EWS: Calculates personalized cumulative exposure dosage based on user medical profiles.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Legacy Apps: No real-time predictive anomaly detection for sudden local fires or emissions.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EHI-EWS: Microservice-driven Isolation Forest ML engine with statistical fallbacks.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Legacy Apps: Static UI with zero interactive guidance.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EHI-EWS: EVA Virtual Assistant providing smart itineraries, travel advice, and PDF exports.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TOPIC 3: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3. Methodology — Data Pipeline &amp; ML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1663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51663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470916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400" b="1">
                <a:solidFill>
                  <a:srgbClr val="1E293B"/>
                </a:solidFill>
              </a:defRPr>
            </a:pPr>
            <a:r>
              <a:t>Data Acquisition &amp; Caching Pipeline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Telemetry Source: Integrates OpenWeather REST API for live air pollution and weather forecasts.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Monitored Pollutants: Full tracking of PM2.5, PM10, NO2, SO2, CO, and O3 values.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NodeCache Optimization: Backend cache layer with 10-minute TTL reduces external API requests by 85%.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Geocoding Engine: Converts latitude and longitude coordinates into localized geographic place names.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1663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508760"/>
            <a:ext cx="516636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470916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400" b="1">
                <a:solidFill>
                  <a:srgbClr val="1E293B"/>
                </a:solidFill>
              </a:defRPr>
            </a:pPr>
            <a:r>
              <a:t>Machine Learning Anomaly Detection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Isolation Forest Model: Fitted on sequential pollutant series to identify unexpected pollution anomalies.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Z-Score Statistical Fallback: Evaluates rolling z-score ($z &gt; 2.2$) when time-series history is limited.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Quantitative Model Evaluator: Computes MAE, RMSE, and R² for continuous prediction accuracy verification.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FastAPI Service: Isolated execution on port 8000 for low-latency machine learning inference.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TOPIC 3: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3. Methodology — Health Assessment &amp; EVA Assistant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1663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516636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470916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400" b="1">
                <a:solidFill>
                  <a:srgbClr val="1E293B"/>
                </a:solidFill>
              </a:defRPr>
            </a:pPr>
            <a:r>
              <a:t>Personalized Exposure Assessment Model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Health Profile Integration: Captures pre-existing conditions (Asthma, Heart Disease, Vulnerable Age).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Dosage Equation: Exposure Dose = Ambient Concentration × Outdoor Duration × Vulnerability Score.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Risk Stratification: Classifies safety into Safe, Moderate, Severe, and Critical hazard zones.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Clinical PDF Exporter: Uses jsPDF to generate medical summary reports for physician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1663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508760"/>
            <a:ext cx="51663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470916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400" b="1">
                <a:solidFill>
                  <a:srgbClr val="1E293B"/>
                </a:solidFill>
              </a:defRPr>
            </a:pPr>
            <a:r>
              <a:t>EVA Virtual Assistant Architecture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Dual Interaction Mode: Guided menu options combined with open natural language query processing.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Context Awareness: Reads active page context, current GPS coordinates, and user risk tier.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Smart Outdoor Itinerary: Recommends safe outdoor exercise windows and safe indoor alternatives.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Emergency Navigation: Directly routes users to nearby registered medical centers and clinics.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TOPIC 4: DESIGN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4. Design Diagrams —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E293B"/>
                </a:solidFill>
              </a:defRPr>
            </a:pPr>
            <a:r>
              <a:t>CLIENT TIER</a:t>
            </a:r>
            <a:br/>
            <a:r>
              <a:t>(React + TypeScript)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▪ Vite Build + Tailwind CSS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▪ Shadcn UI Component Suite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▪ Leaflet GIS Interactive Map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▪ Recharts Visualization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▪ jsPDF Clinical Exporter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▪ EVA Assistant Widget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14800" y="3566160"/>
            <a:ext cx="548640" cy="32004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5488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828800"/>
            <a:ext cx="29260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E293B"/>
                </a:solidFill>
              </a:defRPr>
            </a:pPr>
            <a:r>
              <a:t>BACKEND API TIER</a:t>
            </a:r>
            <a:br/>
            <a:r>
              <a:t>(Node.js + Express v5)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▪ JWT Auth &amp; RBAC Middleware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▪ AQI Service &amp; NodeCache Layer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▪ EVA Orchestrator Service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▪ Helmet &amp; Express Rate Limiter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▪ Mongoose Database Models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138160" y="3566160"/>
            <a:ext cx="548640" cy="320040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0" y="1645920"/>
            <a:ext cx="2681935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828800"/>
            <a:ext cx="2316175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E293B"/>
                </a:solidFill>
              </a:defRPr>
            </a:pPr>
            <a:r>
              <a:t>ML SERVICE TIER</a:t>
            </a:r>
            <a:br/>
            <a:r>
              <a:t>(Python FastAPI)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▪ Isolation Forest Model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▪ Z-Score Rolling Check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▪ Metrics Evaluator (MAE, R²)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3977639"/>
            <a:ext cx="2681935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4160519"/>
            <a:ext cx="2316175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1E293B"/>
                </a:solidFill>
              </a:defRPr>
            </a:pPr>
            <a:r>
              <a:t>DATA &amp; EXTERNAL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▪ MongoDB Database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▪ OpenWeather Pollution API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▪ Geocoding REST Services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TOPIC 4: DESIGN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4. Design Diagrams — Entity-Relationship (ER)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375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333756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288036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400" b="1">
                <a:solidFill>
                  <a:srgbClr val="1E293B"/>
                </a:solidFill>
              </a:defRPr>
            </a:pPr>
            <a:r>
              <a:t>User &amp; Medical Profile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User Schema: _id, name, email, passwordHash, role (User, Admin, Facility), createdAt.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Profile Schema: _id, userId, age, asthma (Boolean), heartCondition (Boolean), vulnerabilityScore, emergencyContact.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3375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508760"/>
            <a:ext cx="33375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691640"/>
            <a:ext cx="288036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400" b="1">
                <a:solidFill>
                  <a:srgbClr val="1E293B"/>
                </a:solidFill>
              </a:defRPr>
            </a:pPr>
            <a:r>
              <a:t>Environmental Readings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EnvironmentalReading: _id, location, latitude, longitude, aqi, pm25, pm10, no2, so2, co, o3, timestamp.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Prediction: _id, modelVersion, anomalyScore, isAnomaly, confidence, timestamp.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08760"/>
            <a:ext cx="33375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508760"/>
            <a:ext cx="333756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691640"/>
            <a:ext cx="288036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400" b="1">
                <a:solidFill>
                  <a:srgbClr val="1E293B"/>
                </a:solidFill>
              </a:defRPr>
            </a:pPr>
            <a:r>
              <a:t>Exposure &amp; Healthcare Schema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ExposureRecord: _id, userId, durationMinutes, averageAqi, calculatedDose, date.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Facility Schema: _id, name, type (Hospital/Clinic), coordinates, capacity, contactPhone.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EnvironmentalAlert: _id, severity, threshold, triggerLocation, status.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TOPIC 4: DESIGN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4. Design Diagrams — End-to-End Data Flow Sequence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1072865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1027145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400" b="1">
                <a:solidFill>
                  <a:srgbClr val="1E293B"/>
                </a:solidFill>
              </a:defRPr>
            </a:pPr>
            <a:r>
              <a:t>Sequential Execution Pipeline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Step 1 (Client Trigger): User views dashboard or queries air quality for specific GPS coordinates.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Step 2 (Security &amp; Rate Check): Express rate limiter &amp; JWT auth middleware validate request authenticity.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Step 3 (Cache Layer Inspection): NodeCache checks if OpenWeather telemetry for (lat, lon) exists within 10-min TTL.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Step 4 (API Telemetry Fetch): On cache miss, backend fetches 6-pollutant telemetry &amp; weather forecast from OpenWeather REST API.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Step 5 (ML Anomaly Microservice Call): Express backend sends recent AQI sequence to Python FastAPI `/detect-anomalies` endpoint.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Step 6 (Model Inference): Isolation Forest checks sequence for unexpected spikes, returning anomaly score and confidence metric.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Step 7 (Health Risk Calculation): Exposure engine merges user medical profile + live AQI data; EVA Assistant prepares suggestion payload.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Step 8 (UI Rendering): React frontend updates Leaflet spatial map pins, Recharts trend charts, and EVA assistant widgets.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TOPIC 5: CONCLUSION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5. Conclusion and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1663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51663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470916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400" b="1">
                <a:solidFill>
                  <a:srgbClr val="1E293B"/>
                </a:solidFill>
              </a:defRPr>
            </a:pPr>
            <a:r>
              <a:t>Key Technical Achievements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High Efficiency: Microservices design delivers sub-second response times with 85% cache hit efficiency.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Effective Early Warnings: Isolation Forest accurately isolates pollution anomalies prior to widespread exposure.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Clinical Value: Downloadable PDF health reports bridge the gap between environmental monitoring and patient care.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Security Standard: Multi-tier RBAC, rate limiting, and security headers ensure robust data protection.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1663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508760"/>
            <a:ext cx="516636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470916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400" b="1">
                <a:solidFill>
                  <a:srgbClr val="1E293B"/>
                </a:solidFill>
              </a:defRPr>
            </a:pPr>
            <a:r>
              <a:t>System Discussion &amp; Future Scope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Current Trade-off: Dependent on external cloud API feeds; hyper-local precision varies with station density.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Future IoT Integration: Connect ESP32 / Arduino hardware air sensors over MQTT for hyper-local microclimates.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Deep Learning Models: Upgrade forecasting models from linear regression to LSTM / Transformer neural networks.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Mobile App Expansion: Deploy React Native mobile app with background GPS push alerts for high-exposure zones.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TOPIC 6: SCREENSHOTS &amp;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6. Screenshots &amp; UI Demonstration Diagrams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375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33375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288036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400" b="1">
                <a:solidFill>
                  <a:srgbClr val="1E293B"/>
                </a:solidFill>
              </a:defRPr>
            </a:pPr>
            <a:r>
              <a:t>1. Main Dashboard &amp; GIS Map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Interactive Leaflet spatial heatmap with station pins.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Color-coded EPA AQI status pills (Good to Hazardous).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6-Pollutant breakdown grid (PM2.5, PM10, NO2, etc.).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Location search with auto-suggest.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3375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508760"/>
            <a:ext cx="333756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691640"/>
            <a:ext cx="288036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400" b="1">
                <a:solidFill>
                  <a:srgbClr val="1E293B"/>
                </a:solidFill>
              </a:defRPr>
            </a:pPr>
            <a:r>
              <a:t>2. EVA Assistant &amp; Alerts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Menu-driven virtual assistant floating widget.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Smart outdoor travel &amp; itinerary recommendations.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Dynamic AQI hazard alert banner notifications.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Nearby healthcare clinic navigation.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08760"/>
            <a:ext cx="33375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508760"/>
            <a:ext cx="333756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691640"/>
            <a:ext cx="288036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1400" b="1">
                <a:solidFill>
                  <a:srgbClr val="1E293B"/>
                </a:solidFill>
              </a:defRPr>
            </a:pPr>
            <a:r>
              <a:t>3. Exposure &amp; PDF Reports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Personalized cumulative exposure dose tracker.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Vulnerability health profile setup screen.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One-click downloadable PDF summary reports.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Multi-tier RBAC admin management dashboards.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73152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728655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40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>
              <a:spcAft>
                <a:spcPts val="2400"/>
              </a:spcAft>
              <a:defRPr sz="2000">
                <a:solidFill>
                  <a:srgbClr val="0D9488"/>
                </a:solidFill>
              </a:defRPr>
            </a:pPr>
            <a:r>
              <a:t>Environmental Health Intelligence &amp; Early Warning System (EHI-EWS)</a:t>
            </a:r>
          </a:p>
          <a:p>
            <a:pPr>
              <a:defRPr sz="1600" b="1">
                <a:solidFill>
                  <a:srgbClr val="D97706"/>
                </a:solidFill>
              </a:defRPr>
            </a:pPr>
            <a:r>
              <a:t>Questions &amp; Academic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